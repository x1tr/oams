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96250" y="-190500"/>
            <a:ext cx="3810000" cy="38100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76250" y="3810000"/>
            <a:ext cx="2857500" cy="2857500"/>
          </a:xfrm>
          <a:prstGeom prst="ellipse">
            <a:avLst/>
          </a:prstGeom>
          <a:solidFill>
            <a:srgbClr val="7C3AED">
              <a:alpha val="6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2563EB">
              <a:alpha val="5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952500" y="2476500"/>
            <a:ext cx="1905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4212" y="1516380"/>
            <a:ext cx="225171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SmartOA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356" y="218694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企业智慧办公管理系统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6404" y="3108960"/>
            <a:ext cx="43679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Vue.js 3 + SpringBoot 微服务 + Spring AI + Ollama 大模型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3714750"/>
            <a:ext cx="1047750" cy="34290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88339" y="38300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A5FA"/>
                </a:solidFill>
                <a:latin typeface="Segoe UI"/>
                <a:ea typeface="Microsoft YaHei"/>
                <a:cs typeface="Segoe UI"/>
              </a:rPr>
              <a:t>全文检索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143125" y="3714750"/>
            <a:ext cx="1047750" cy="342900"/>
          </a:xfrm>
          <a:prstGeom prst="roundRect">
            <a:avLst>
              <a:gd name="adj" fmla="val 50000"/>
            </a:avLst>
          </a:prstGeom>
          <a:solidFill>
            <a:srgbClr val="7C3AED">
              <a:alpha val="2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277085" y="3830002"/>
            <a:ext cx="7798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78BFA"/>
                </a:solidFill>
                <a:latin typeface="Segoe UI"/>
                <a:ea typeface="Microsoft YaHei"/>
                <a:cs typeface="Segoe UI"/>
              </a:rPr>
              <a:t>AI 智能客服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333750" y="3714750"/>
            <a:ext cx="1047750" cy="3429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569589" y="38300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4D399"/>
                </a:solidFill>
                <a:latin typeface="Segoe UI"/>
                <a:ea typeface="Microsoft YaHei"/>
                <a:cs typeface="Segoe UI"/>
              </a:rPr>
              <a:t>灵活审批</a:t>
            </a:r>
          </a:p>
        </p:txBody>
      </p:sp>
      <p:sp>
        <p:nvSpPr>
          <p:cNvPr id="16" name="Line 16"/>
          <p:cNvSpPr/>
          <p:nvPr/>
        </p:nvSpPr>
        <p:spPr>
          <a:xfrm>
            <a:off x="952500" y="5238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47166" y="5411152"/>
            <a:ext cx="2434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武汉理工大学实训班 · 福建福州新大陆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5609749"/>
            <a:ext cx="2201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10天实训项目 · 5人团队 · 2026年7月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92430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项目背景与机遇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743902"/>
            <a:ext cx="25944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传统OA的三大痛点，催生智慧办公需求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3524250" cy="2286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781050" y="1495425"/>
            <a:ext cx="342900" cy="342900"/>
          </a:xfrm>
          <a:prstGeom prst="ellipse">
            <a:avLst/>
          </a:prstGeom>
          <a:solidFill>
            <a:srgbClr val="EF4444">
              <a:alpha val="1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95664" y="157829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F4444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8255" y="1552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信息孤岛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285" y="1974056"/>
            <a:ext cx="13744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各部门系统独立运行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285" y="2212181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数据无法互通共享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285" y="2450306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员工找一份公告翻半天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047" y="3133249"/>
            <a:ext cx="13027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→ 决策滞后，重复劳动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1285875"/>
            <a:ext cx="3524250" cy="2286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543425" y="1495425"/>
            <a:ext cx="342900" cy="342900"/>
          </a:xfrm>
          <a:prstGeom prst="ellipse">
            <a:avLst/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58039" y="157829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40630" y="1552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审批僵化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18660" y="1974056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请假只能从固定模板选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8660" y="2212181"/>
            <a:ext cx="1541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"远程办公"找不到分类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8660" y="245030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纸质流程无法追踪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9422" y="3133249"/>
            <a:ext cx="13027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→ 流程停滞，员工不满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096250" y="1285875"/>
            <a:ext cx="3524250" cy="2286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305800" y="1495425"/>
            <a:ext cx="342900" cy="342900"/>
          </a:xfrm>
          <a:prstGeom prst="ellipse">
            <a:avLst/>
          </a:prstGeom>
          <a:solidFill>
            <a:srgbClr val="7C3AED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20414" y="157829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03005" y="1552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重复咨询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81035" y="1974056"/>
            <a:ext cx="12515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HR每天回答100遍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81035" y="2212181"/>
            <a:ext cx="10867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"年假怎么申请"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81035" y="2450306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答案散落在制度文档中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1797" y="3133249"/>
            <a:ext cx="13027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→ 人力浪费，响应缓慢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82329" y="3804285"/>
            <a:ext cx="227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▼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333500" y="4476750"/>
            <a:ext cx="9525000" cy="762000"/>
          </a:xfrm>
          <a:prstGeom prst="roundRect">
            <a:avLst>
              <a:gd name="adj" fmla="val 12500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>
                <a:alpha val="8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686044" y="46520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我们的方案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83154" y="4886325"/>
            <a:ext cx="68256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D4ED8"/>
                </a:solidFill>
                <a:latin typeface="Segoe UI"/>
                <a:ea typeface="Microsoft YaHei"/>
                <a:cs typeface="Segoe UI"/>
              </a:rPr>
              <a:t>AI智能客服 + ES全文检索 + 自定义灵活审批 = 会思考的企业办公平台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5619750"/>
            <a:ext cx="3524250" cy="28575"/>
          </a:xfrm>
          <a:prstGeom prst="roundRect">
            <a:avLst>
              <a:gd name="adj" fmla="val 50000"/>
            </a:avLst>
          </a:prstGeom>
          <a:solidFill>
            <a:srgbClr val="EF4444">
              <a:alpha val="30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4333875" y="5619750"/>
            <a:ext cx="3524250" cy="28575"/>
          </a:xfrm>
          <a:prstGeom prst="roundRect">
            <a:avLst>
              <a:gd name="adj" fmla="val 50000"/>
            </a:avLst>
          </a:prstGeom>
          <a:solidFill>
            <a:srgbClr val="F59E0B">
              <a:alpha val="30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096250" y="5619750"/>
            <a:ext cx="3524250" cy="28575"/>
          </a:xfrm>
          <a:prstGeom prst="roundRect">
            <a:avLst>
              <a:gd name="adj" fmla="val 50000"/>
            </a:avLst>
          </a:prstGeom>
          <a:solidFill>
            <a:srgbClr val="7C3AED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技术栈全景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20791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六层架构，从用户界面到AI引擎</a:t>
            </a:r>
          </a:p>
        </p:txBody>
      </p:sp>
      <p:sp>
        <p:nvSpPr>
          <p:cNvPr id="6" name="Rectangle 6"/>
          <p:cNvSpPr/>
          <p:nvPr/>
        </p:nvSpPr>
        <p:spPr>
          <a:xfrm>
            <a:off x="952500" y="1047750"/>
            <a:ext cx="10287000" cy="5715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33297" y="1199674"/>
            <a:ext cx="4233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展示层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3488" y="1379220"/>
            <a:ext cx="33984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Vue.js 3 + Element Plus + Pinia + Vue Router + Axios + Vite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1714500"/>
            <a:ext cx="10287000" cy="47625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233297" y="1818799"/>
            <a:ext cx="4233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D4ED8"/>
                </a:solidFill>
                <a:latin typeface="Segoe UI"/>
                <a:ea typeface="Microsoft YaHei"/>
                <a:cs typeface="Segoe UI"/>
              </a:rPr>
              <a:t>网关层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3488" y="1988820"/>
            <a:ext cx="44726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Spring Cloud Gateway · JWT 鉴权 · 路由转发 · Nacos 服务发现 · LoadBalancer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2286000"/>
            <a:ext cx="10287000" cy="9525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33297" y="2418874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业务服务层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238250" y="2647950"/>
            <a:ext cx="28575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877801" y="2809399"/>
            <a:ext cx="15783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oa-emp-service 员工服务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28518" y="2958941"/>
            <a:ext cx="16769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MyBatis + ES 检索 + PageHelper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286250" y="2647950"/>
            <a:ext cx="28575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870018" y="2809399"/>
            <a:ext cx="16899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oa-admin-service 管理服务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80190" y="2958941"/>
            <a:ext cx="126961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RBAC + Redis + 审批引擎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34250" y="2647950"/>
            <a:ext cx="2857500" cy="457200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053030" y="2809399"/>
            <a:ext cx="14199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oa-ai-service AI客服 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89941" y="2958941"/>
            <a:ext cx="134611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Spring Boot 3.4.5 独立栈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52500" y="3333750"/>
            <a:ext cx="10287000" cy="47625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233297" y="343804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EA580C"/>
                </a:solidFill>
                <a:latin typeface="Segoe UI"/>
                <a:ea typeface="Microsoft YaHei"/>
                <a:cs typeface="Segoe UI"/>
              </a:rPr>
              <a:t>数据访问层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3488" y="3608070"/>
            <a:ext cx="48944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MyBatis ORM · Spring Data ES · Druid 连接池 · Jedis Redis 客户端 · PageHelper 分页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52500" y="3905250"/>
            <a:ext cx="10287000" cy="6667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233297" y="4038124"/>
            <a:ext cx="561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中间件层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3488" y="4360545"/>
            <a:ext cx="60805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MySQL 8.0 (3306) · Redis (6379) · Elasticsearch 7.13 (9200) · Nacos 1.1.3+ (8848) · Ollama (11434)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52500" y="4667250"/>
            <a:ext cx="10287000" cy="5715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233297" y="4800124"/>
            <a:ext cx="6142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AI 引擎层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3488" y="5027295"/>
            <a:ext cx="62433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Spring AI 1.0 · Ollama qwen2.5:0.5b (对话) · nomic-embed-text (向量化) · 内存向量库 · WebFlux SSE 流式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524500"/>
            <a:ext cx="5143500" cy="5715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7047" y="5676424"/>
            <a:ext cx="27415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D97706"/>
                </a:solidFill>
                <a:latin typeface="Segoe UI"/>
                <a:ea typeface="Microsoft YaHei"/>
                <a:cs typeface="Segoe UI"/>
              </a:rPr>
              <a:t>★ oa-ai-service 使用独立 Spring Boot 3.4.5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238" y="5884545"/>
            <a:ext cx="495292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2400E"/>
                </a:solidFill>
                <a:latin typeface="Segoe UI"/>
                <a:ea typeface="Microsoft YaHei"/>
                <a:cs typeface="Segoe UI"/>
              </a:rPr>
              <a:t>原因：Spring AI 1.0 强制要求 Boot 3.x + JDK 17+，通过 Gateway HTTP 与其他服务互通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15055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微服务架构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19683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 网关 + 3 业务服务 + 6 中间件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1000125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443852" y="1124902"/>
            <a:ext cx="13042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Vue.js 3 SPA :5173</a:t>
            </a:r>
          </a:p>
        </p:txBody>
      </p:sp>
      <p:sp>
        <p:nvSpPr>
          <p:cNvPr id="8" name="Line 8"/>
          <p:cNvSpPr/>
          <p:nvPr/>
        </p:nvSpPr>
        <p:spPr>
          <a:xfrm>
            <a:off x="6096000" y="138112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94A3B8"/>
            </a:solidFill>
          </a:ln>
        </p:spPr>
      </p:sp>
      <p:sp>
        <p:nvSpPr>
          <p:cNvPr id="9" name="Polygon 9"/>
          <p:cNvSpPr/>
          <p:nvPr/>
        </p:nvSpPr>
        <p:spPr>
          <a:xfrm>
            <a:off x="6048375" y="159067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47625" y="762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191000" y="1714500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482880" y="1823085"/>
            <a:ext cx="12262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Segoe UI"/>
                <a:ea typeface="Segoe UI"/>
                <a:cs typeface="Segoe UI"/>
              </a:rPr>
              <a:t>Gateway :8080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39375" y="2017395"/>
            <a:ext cx="31132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Spring Cloud Gateway · 路由 · JWT · CORS · 负载均衡</a:t>
            </a:r>
          </a:p>
        </p:txBody>
      </p:sp>
      <p:sp>
        <p:nvSpPr>
          <p:cNvPr id="13" name="Line 13"/>
          <p:cNvSpPr/>
          <p:nvPr/>
        </p:nvSpPr>
        <p:spPr>
          <a:xfrm>
            <a:off x="2667000" y="2190750"/>
            <a:ext cx="2381250" cy="476250"/>
          </a:xfrm>
          <a:custGeom>
            <a:avLst/>
            <a:gdLst/>
            <a:ahLst/>
            <a:cxnLst/>
            <a:rect l="l" t="t" r="r" b="b"/>
            <a:pathLst>
              <a:path w="2381250" h="476250">
                <a:moveTo>
                  <a:pt x="238125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14" name="Line 14"/>
          <p:cNvSpPr/>
          <p:nvPr/>
        </p:nvSpPr>
        <p:spPr>
          <a:xfrm>
            <a:off x="6096000" y="219075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15" name="Line 15"/>
          <p:cNvSpPr/>
          <p:nvPr/>
        </p:nvSpPr>
        <p:spPr>
          <a:xfrm>
            <a:off x="7143750" y="2190750"/>
            <a:ext cx="2381250" cy="476250"/>
          </a:xfrm>
          <a:custGeom>
            <a:avLst/>
            <a:gdLst/>
            <a:ahLst/>
            <a:cxnLst/>
            <a:rect l="l" t="t" r="r" b="b"/>
            <a:pathLst>
              <a:path w="2381250" h="476250">
                <a:moveTo>
                  <a:pt x="0" y="0"/>
                </a:moveTo>
                <a:lnTo>
                  <a:pt x="2381250" y="47625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238250" y="2714625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2053034" y="2812256"/>
            <a:ext cx="12279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oa-emp-service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69056" y="3027045"/>
            <a:ext cx="99588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:8091 · Boot 2.x</a:t>
            </a:r>
          </a:p>
        </p:txBody>
      </p:sp>
      <p:sp>
        <p:nvSpPr>
          <p:cNvPr id="19" name="Line 19"/>
          <p:cNvSpPr/>
          <p:nvPr/>
        </p:nvSpPr>
        <p:spPr>
          <a:xfrm>
            <a:off x="1476375" y="32385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044560" y="3312795"/>
            <a:ext cx="12448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员工 CRUD · 部门管理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86953" y="3474720"/>
            <a:ext cx="13600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ES 全文检索 · 数据脱敏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76072" y="3636645"/>
            <a:ext cx="13818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PageHelper 分页 · Druid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667250" y="2714625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14451" y="2812256"/>
            <a:ext cx="136309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oa-admin-service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98056" y="3027045"/>
            <a:ext cx="99588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:8092 · Boot 2.x</a:t>
            </a:r>
          </a:p>
        </p:txBody>
      </p:sp>
      <p:sp>
        <p:nvSpPr>
          <p:cNvPr id="26" name="Line 26"/>
          <p:cNvSpPr/>
          <p:nvPr/>
        </p:nvSpPr>
        <p:spPr>
          <a:xfrm>
            <a:off x="4905375" y="32385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409552" y="3312795"/>
            <a:ext cx="1372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RBAC 权限 · 自定义请假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15953" y="3474720"/>
            <a:ext cx="13600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公告管理 · ES 公告检索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81653" y="3636645"/>
            <a:ext cx="1228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Redis 缓存 · 操作审计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96250" y="2714625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4288">
            <a:solidFill>
              <a:srgbClr val="7C3AED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922960" y="2812256"/>
            <a:ext cx="1204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oa-ai-service 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55356" y="3027045"/>
            <a:ext cx="153928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:8093 · Boot 3.4.5 独立栈</a:t>
            </a:r>
          </a:p>
        </p:txBody>
      </p:sp>
      <p:sp>
        <p:nvSpPr>
          <p:cNvPr id="33" name="Line 33"/>
          <p:cNvSpPr/>
          <p:nvPr/>
        </p:nvSpPr>
        <p:spPr>
          <a:xfrm>
            <a:off x="8334375" y="32385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4762">
            <a:solidFill>
              <a:srgbClr val="EDE9F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37740" y="3312795"/>
            <a:ext cx="15745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Ollama 对话 · RAG 知识检索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20366" y="3474720"/>
            <a:ext cx="10092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Embedding 向量化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73757" y="3636645"/>
            <a:ext cx="130248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内存向量库 · SSE 流式</a:t>
            </a:r>
          </a:p>
        </p:txBody>
      </p:sp>
      <p:sp>
        <p:nvSpPr>
          <p:cNvPr id="37" name="Line 37"/>
          <p:cNvSpPr/>
          <p:nvPr/>
        </p:nvSpPr>
        <p:spPr>
          <a:xfrm>
            <a:off x="2667000" y="385762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38" name="Line 38"/>
          <p:cNvSpPr/>
          <p:nvPr/>
        </p:nvSpPr>
        <p:spPr>
          <a:xfrm>
            <a:off x="6096000" y="385762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39" name="Line 39"/>
          <p:cNvSpPr/>
          <p:nvPr/>
        </p:nvSpPr>
        <p:spPr>
          <a:xfrm>
            <a:off x="9525000" y="385762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1238250" y="4333875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503511" y="4485799"/>
            <a:ext cx="11839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0369A1"/>
                </a:solidFill>
                <a:latin typeface="Segoe UI"/>
                <a:ea typeface="Segoe UI"/>
                <a:cs typeface="Segoe UI"/>
              </a:rPr>
              <a:t>MySQL 8.0 :3306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32609" y="4673441"/>
            <a:ext cx="9257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业务数据 · 10张表</a:t>
            </a:r>
          </a:p>
        </p:txBody>
      </p:sp>
      <p:sp>
        <p:nvSpPr>
          <p:cNvPr id="43" name="Rectangle 43"/>
          <p:cNvSpPr/>
          <p:nvPr/>
        </p:nvSpPr>
        <p:spPr>
          <a:xfrm>
            <a:off x="3238500" y="4333875"/>
            <a:ext cx="1333500" cy="5715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3513525" y="4485799"/>
            <a:ext cx="783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Redis :6379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522624" y="4673441"/>
            <a:ext cx="7652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缓存 · Session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857750" y="4333875"/>
            <a:ext cx="1714500" cy="5715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076788" y="4485799"/>
            <a:ext cx="12764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EA580C"/>
                </a:solidFill>
                <a:latin typeface="Segoe UI"/>
                <a:ea typeface="Segoe UI"/>
                <a:cs typeface="Segoe UI"/>
              </a:rPr>
              <a:t>Elasticsearch 7.13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40846" y="4673441"/>
            <a:ext cx="9483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全文检索 · IK分词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858000" y="4333875"/>
            <a:ext cx="142875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163227" y="4485799"/>
            <a:ext cx="8182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Nacos :8848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281629" y="4673441"/>
            <a:ext cx="5814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注册 · 配置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572500" y="4333875"/>
            <a:ext cx="2381250" cy="5715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857387" y="4485799"/>
            <a:ext cx="18114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Ollama :11434 + 内存向量库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00368" y="4673441"/>
            <a:ext cx="15255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qwen2.5:0.5b · embed-text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5334000"/>
            <a:ext cx="11049000" cy="571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2586008" y="5466874"/>
            <a:ext cx="701998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全部服务注册到 Nacos · Gateway 统一鉴权后路由 · AI 服务通过 HTTP 与其他服务互通 · 内存向量库无需 RedisStack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862224" y="5665470"/>
            <a:ext cx="44675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8GB 内存可跑全部 · 环境搭建仅需 Ollama + 6个中间件（一键 docker-compose）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438092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员工管理 — CRUD + ES 全文检索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34390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MyBatis 负责持久化，Elasticsearch 负责毫秒级搜索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47750"/>
            <a:ext cx="5334000" cy="26670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02767" y="1187768"/>
            <a:ext cx="285897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数据持久化 (MySQL + MyBatis)</a:t>
            </a:r>
          </a:p>
        </p:txBody>
      </p:sp>
      <p:sp>
        <p:nvSpPr>
          <p:cNvPr id="8" name="Rectangle 8"/>
          <p:cNvSpPr/>
          <p:nvPr/>
        </p:nvSpPr>
        <p:spPr>
          <a:xfrm>
            <a:off x="809625" y="1524000"/>
            <a:ext cx="2381250" cy="904875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94410" y="1640681"/>
            <a:ext cx="14028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D4ED8"/>
                </a:solidFill>
                <a:latin typeface="Segoe UI"/>
                <a:ea typeface="Microsoft YaHei"/>
                <a:cs typeface="Segoe UI"/>
              </a:rPr>
              <a:t>员工表 t_employee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362" y="1884045"/>
            <a:ext cx="15906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id | emp_no | name | dept_id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5362" y="2045970"/>
            <a:ext cx="18390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position | email | phone | status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5362" y="2215991"/>
            <a:ext cx="18290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PageHelper 物理分页 · Druid连接池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81375" y="1524000"/>
            <a:ext cx="2333625" cy="904875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66160" y="1640681"/>
            <a:ext cx="16175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部门表 t_department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67112" y="1884045"/>
            <a:ext cx="15240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id | parent_id | dept_name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67112" y="2045970"/>
            <a:ext cx="13846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dept_code | sort_order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67112" y="2215991"/>
            <a:ext cx="13180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递归查树 · Redis缓存加速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9625" y="2571750"/>
            <a:ext cx="4905375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94791" y="2696528"/>
            <a:ext cx="59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API 接口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362" y="2931795"/>
            <a:ext cx="26057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GET /api/emp/list?page=1&amp;size=10&amp;deptId=1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5362" y="3122295"/>
            <a:ext cx="30567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POST /api/emp { "name":"张三", "deptId":1, ... 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5362" y="3312795"/>
            <a:ext cx="24264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PUT /api/emp/{id} DELETE /api/emp/{id}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191250" y="1047750"/>
            <a:ext cx="5429250" cy="2667000"/>
          </a:xfrm>
          <a:prstGeom prst="roundRect">
            <a:avLst>
              <a:gd name="adj" fmla="val 2857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422517" y="1187768"/>
            <a:ext cx="28022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A580C"/>
                </a:solidFill>
                <a:latin typeface="Segoe UI"/>
                <a:ea typeface="Microsoft YaHei"/>
                <a:cs typeface="Segoe UI"/>
              </a:rPr>
              <a:t>全文检索 (Elasticsearch 7.13)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29375" y="1524000"/>
            <a:ext cx="49530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14541" y="162020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搜索流程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14922" y="1847374"/>
            <a:ext cx="34612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用户输入 "张三" → ES IK 分词 → 多字段 match → 高亮返回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15112" y="2074545"/>
            <a:ext cx="524808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GET /api/emp/search?keyword=张三 → { total: 5, list: [{ "name": "&lt;em&gt;张三&lt;/em&gt;" }] }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15112" y="2273141"/>
            <a:ext cx="25855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IK 分词器：ik_max_word(索引) / ik_smart(搜索)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29375" y="2619375"/>
            <a:ext cx="49530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ED7A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14541" y="27155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数据同步策略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14922" y="2942749"/>
            <a:ext cx="43387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MySQL 写入成功 → 同步更新 ES 索引（try-catch，失败不影响主流程）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14922" y="3161824"/>
            <a:ext cx="44864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ES 索引名: smart_oa_employee · 搜索字段: name + position + deptName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000500"/>
            <a:ext cx="11049000" cy="247650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3529" y="41376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前端页面预览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" y="4429125"/>
            <a:ext cx="285750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47547" y="4542949"/>
            <a:ext cx="17949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🔍 搜索员工姓名/工号/部门...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9625" y="4905375"/>
            <a:ext cx="10572750" cy="2857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95362" y="49987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工号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00238" y="49987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姓名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05238" y="49987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部门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710238" y="49987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职位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15238" y="49987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状态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43988" y="49987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操作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09625" y="5191125"/>
            <a:ext cx="10572750" cy="266700"/>
          </a:xfrm>
          <a:prstGeom prst="rect">
            <a:avLst/>
          </a:prstGeom>
          <a:solidFill>
            <a:srgbClr val="FFFFFF"/>
          </a:solidFill>
          <a:ln w="4762">
            <a:solidFill>
              <a:srgbClr val="F1F5F9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95362" y="5265420"/>
            <a:ext cx="2094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001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900238" y="52654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张三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05238" y="526542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技术部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10238" y="5265420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高级工程师</a:t>
            </a:r>
          </a:p>
        </p:txBody>
      </p:sp>
      <p:sp>
        <p:nvSpPr>
          <p:cNvPr id="50" name="Ellipse 50"/>
          <p:cNvSpPr/>
          <p:nvPr/>
        </p:nvSpPr>
        <p:spPr>
          <a:xfrm>
            <a:off x="7677150" y="5295900"/>
            <a:ext cx="76200" cy="76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7805738" y="52654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在职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043988" y="5265420"/>
            <a:ext cx="5305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编辑 删除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09625" y="5457825"/>
            <a:ext cx="10572750" cy="266700"/>
          </a:xfrm>
          <a:prstGeom prst="rect">
            <a:avLst/>
          </a:prstGeom>
          <a:solidFill>
            <a:srgbClr val="F8FAFC"/>
          </a:solidFill>
          <a:ln w="4762">
            <a:solidFill>
              <a:srgbClr val="F1F5F9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95362" y="5532120"/>
            <a:ext cx="2094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334155"/>
                </a:solidFill>
                <a:latin typeface="Consolas"/>
                <a:ea typeface="Consolas"/>
                <a:cs typeface="Consolas"/>
              </a:rPr>
              <a:t>002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900238" y="55321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李四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805238" y="553212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技术部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710238" y="553212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部门经理</a:t>
            </a:r>
          </a:p>
        </p:txBody>
      </p:sp>
      <p:sp>
        <p:nvSpPr>
          <p:cNvPr id="58" name="Ellipse 58"/>
          <p:cNvSpPr/>
          <p:nvPr/>
        </p:nvSpPr>
        <p:spPr>
          <a:xfrm>
            <a:off x="7677150" y="5562600"/>
            <a:ext cx="76200" cy="76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805738" y="553212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在职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043988" y="5532120"/>
            <a:ext cx="5305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编辑 删除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409724" y="6075045"/>
            <a:ext cx="13725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&lt; 1 2 3 ... 16 &gt; 共156条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527535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★ 自定义请假系统 — 灵活制 vs 固定模板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46964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员工自由填写请假类型，无需从下拉框选择 — 软件适配人，而非人适配软件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47750"/>
            <a:ext cx="5334000" cy="4476750"/>
          </a:xfrm>
          <a:prstGeom prst="roundRect">
            <a:avLst>
              <a:gd name="adj" fmla="val 2128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205952" y="1219200"/>
            <a:ext cx="20650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DC2626"/>
                </a:solidFill>
                <a:latin typeface="Segoe UI"/>
                <a:ea typeface="Microsoft YaHei"/>
                <a:cs typeface="Segoe UI"/>
              </a:rPr>
              <a:t>❌ 传统OA：固定模板</a:t>
            </a:r>
          </a:p>
        </p:txBody>
      </p:sp>
      <p:sp>
        <p:nvSpPr>
          <p:cNvPr id="8" name="Rectangle 8"/>
          <p:cNvSpPr/>
          <p:nvPr/>
        </p:nvSpPr>
        <p:spPr>
          <a:xfrm>
            <a:off x="857250" y="1619250"/>
            <a:ext cx="476250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42416" y="17440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请假类型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47750" y="2000250"/>
            <a:ext cx="4381500" cy="32385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9525">
            <a:solidFill>
              <a:srgbClr val="D1D5D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38047" y="2104549"/>
            <a:ext cx="3839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▼ 年假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" y="25060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开始时间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47750" y="2714625"/>
            <a:ext cx="2095500" cy="26670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D1D5D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138238" y="2807970"/>
            <a:ext cx="7788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📅 2026-07-16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18916" y="25060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结束时间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524250" y="2714625"/>
            <a:ext cx="2095500" cy="26670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D1D5D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14738" y="2807970"/>
            <a:ext cx="7788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📅 2026-07-18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2797" y="341899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DC2626"/>
                </a:solidFill>
                <a:latin typeface="Segoe UI"/>
                <a:ea typeface="Microsoft YaHei"/>
                <a:cs typeface="Segoe UI"/>
              </a:rPr>
              <a:t>制度问题：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2797" y="3657124"/>
            <a:ext cx="2083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字典表 t_leave_type 维护成本高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2797" y="3876199"/>
            <a:ext cx="243155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"考证""产检""接孩子" 装不进固定分类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2797" y="4095274"/>
            <a:ext cx="19590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员工在选项中找不到自己的情况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2797" y="4314349"/>
            <a:ext cx="20902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DC2626"/>
                </a:solidFill>
                <a:latin typeface="Segoe UI"/>
                <a:ea typeface="Microsoft YaHei"/>
                <a:cs typeface="Segoe UI"/>
              </a:rPr>
              <a:t>· 不同企业假期分类不同，无法通用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2416" y="4744402"/>
            <a:ext cx="19178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Segoe UI"/>
                <a:ea typeface="Microsoft YaHei"/>
                <a:cs typeface="Segoe UI"/>
              </a:rPr>
              <a:t>前端：&lt;el-select&gt; 下拉选择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2416" y="4982528"/>
            <a:ext cx="26747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Segoe UI"/>
                <a:ea typeface="Microsoft YaHei"/>
                <a:cs typeface="Segoe UI"/>
              </a:rPr>
              <a:t>数据库：字典表 t_leave_type 外键关联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2416" y="5220652"/>
            <a:ext cx="22369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Segoe UI"/>
                <a:ea typeface="Microsoft YaHei"/>
                <a:cs typeface="Segoe UI"/>
              </a:rPr>
              <a:t>体验：人被迫适配软件的有限选项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62625" y="2857500"/>
            <a:ext cx="666750" cy="666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965165" y="3028950"/>
            <a:ext cx="26167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VS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1047750"/>
            <a:ext cx="5334000" cy="4476750"/>
          </a:xfrm>
          <a:prstGeom prst="roundRect">
            <a:avLst>
              <a:gd name="adj" fmla="val 2128"/>
            </a:avLst>
          </a:prstGeom>
          <a:solidFill>
            <a:srgbClr val="ECFDF5"/>
          </a:solidFill>
          <a:ln w="19050">
            <a:solidFill>
              <a:srgbClr val="A7F3D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849172" y="1219200"/>
            <a:ext cx="220865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✅ SmartOA：自由填写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72250" y="1619250"/>
            <a:ext cx="476250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A7F3D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57416" y="1744028"/>
            <a:ext cx="7304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请假类型 *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762750" y="2000250"/>
            <a:ext cx="4381500" cy="323850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4288">
            <a:solidFill>
              <a:srgbClr val="A7F3D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900672" y="2104549"/>
            <a:ext cx="3041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自由填写，如：考证 / 远程办公 / 产检 / 接孩子...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57416" y="2506028"/>
            <a:ext cx="7304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请假事由 *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762750" y="2714625"/>
            <a:ext cx="4381500" cy="47625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4288">
            <a:solidFill>
              <a:srgbClr val="A7F3D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900672" y="2828449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请详细说明请假原因，经理将根据此内容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00672" y="299037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判断是否批准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57797" y="3418999"/>
            <a:ext cx="4233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优势：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57797" y="3657124"/>
            <a:ext cx="24840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员工写什么就是什么，不需要纠结选哪个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57797" y="3876199"/>
            <a:ext cx="20902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不需要维护字典表，减少系统配置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57797" y="4095274"/>
            <a:ext cx="143401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灵活适配任何企业场景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57797" y="4314349"/>
            <a:ext cx="274656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· 经理审批时看到员工真实诉求，非格式化标签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57416" y="4744402"/>
            <a:ext cx="21330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前端：&lt;el-input&gt; 自由文本输入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57416" y="4982528"/>
            <a:ext cx="33795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数据库：leave_type VARCHAR(100)，不关联字典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757416" y="5220652"/>
            <a:ext cx="19401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体验：软件适配人的真实需求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762625"/>
            <a:ext cx="11049000" cy="809625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554534" y="5887402"/>
            <a:ext cx="30829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审批流程：员工提交 → 经理审批（通过/驳回）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026254" y="6162199"/>
            <a:ext cx="61394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驳回必须填写理由，形成沟通闭环 | 状态：待审批(0) → 已通过(1) / 已驳回(2) | 员工可在审批前撤回(3)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726000" y="6352699"/>
            <a:ext cx="27400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2级串行：员工 → 部门经理，10天实训足够实现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51179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AI 智能客服 — RAG 知识检索增强生成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38271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不是通用聊天机器人，而是基于企业真实制度文档的智能问答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3429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723900" y="1247775"/>
            <a:ext cx="266700" cy="2667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4397" y="1323499"/>
            <a:ext cx="857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041" y="12201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用户提问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612" y="1445895"/>
            <a:ext cx="12332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"请假需要什么材料？"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38914" y="128301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286250" y="1095375"/>
            <a:ext cx="3524250" cy="57150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4288">
            <a:solidFill>
              <a:srgbClr val="C4B5FD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4438650" y="1247775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29147" y="1323499"/>
            <a:ext cx="857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04791" y="122015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问题向量化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05362" y="1445895"/>
            <a:ext cx="22269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Ollama nomic-embed-text → 768维向量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96539" y="128301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91500" y="1095375"/>
            <a:ext cx="342900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8343900" y="1247775"/>
            <a:ext cx="266700" cy="2667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434397" y="1323499"/>
            <a:ext cx="857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10041" y="1220152"/>
            <a:ext cx="1049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向量相似度检索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10612" y="1445895"/>
            <a:ext cx="18858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内存向量库 → Top-3 相关文档片段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20219" y="175831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381250" y="2143125"/>
            <a:ext cx="7429500" cy="5715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4288">
            <a:solidFill>
              <a:srgbClr val="A7F3D0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2533650" y="2295525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624147" y="2371249"/>
            <a:ext cx="857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99791" y="2267902"/>
            <a:ext cx="13290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组装上下文 Prompt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00362" y="2493645"/>
            <a:ext cx="65770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System: "你是SmartOA助手，根据以下文档回答" | Context: [检索到的制度文档片段] | User: "请假需要什么材料？"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20219" y="2806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381250" y="3190875"/>
            <a:ext cx="7429500" cy="47625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14288">
            <a:solidFill>
              <a:srgbClr val="C4B5FD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2533650" y="3295650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624147" y="3371374"/>
            <a:ext cx="857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99791" y="3268028"/>
            <a:ext cx="15837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Ollama 大模型生成回答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00362" y="3474720"/>
            <a:ext cx="25387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qwen2.5:0.5b → Flux&lt;String&gt; 逐 Token 生成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20219" y="37585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524000" y="4143375"/>
            <a:ext cx="4381500" cy="428625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4288">
            <a:solidFill>
              <a:srgbClr val="93C5FD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1676400" y="4219575"/>
            <a:ext cx="266700" cy="2667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766897" y="4295299"/>
            <a:ext cx="857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42541" y="4201478"/>
            <a:ext cx="9437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SSE 流式推送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43112" y="4398645"/>
            <a:ext cx="17753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text/event-stream · WebFlux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32849" y="42195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286500" y="4143375"/>
            <a:ext cx="4381500" cy="428625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4288">
            <a:solidFill>
              <a:srgbClr val="93C5FD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6438900" y="4219575"/>
            <a:ext cx="266700" cy="2667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29397" y="4295299"/>
            <a:ext cx="857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05041" y="42014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前端逐字渲染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05612" y="4398645"/>
            <a:ext cx="15841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AI 消息气泡 + 紫色光标闪烁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4857750"/>
            <a:ext cx="11049000" cy="1714500"/>
          </a:xfrm>
          <a:prstGeom prst="roundRect">
            <a:avLst>
              <a:gd name="adj" fmla="val 5556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04291" y="5030152"/>
            <a:ext cx="1027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🤖 实际效果示例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09625" y="5334000"/>
            <a:ext cx="10572750" cy="1095375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94791" y="5458778"/>
            <a:ext cx="32193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根据《考勤管理制度》§3.4 和《员工手册》§2.1：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94791" y="571595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病假申请需要以下材料：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7666" y="5935028"/>
            <a:ext cx="16220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1. 医院挂号单或预约凭证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37666" y="6125528"/>
            <a:ext cx="44165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2. 诊断证明或病历 3. 在OA系统中提交请假申请，类型填写'病假'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95172" y="6324124"/>
            <a:ext cx="33521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（答案完全来自企业知识库，不编造 — RAG 核心价值）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35654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AI 技术实现 — 轻量化方案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36847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仅需 700MB 模型 + JDK 内存向量库，8GB 电脑可跑全套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3524250" cy="2667000"/>
          </a:xfrm>
          <a:prstGeom prst="roundRect">
            <a:avLst>
              <a:gd name="adj" fmla="val 2857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02767" y="1235392"/>
            <a:ext cx="1130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🧠 本地大模型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809625" y="1571625"/>
            <a:ext cx="30480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94791" y="1677352"/>
            <a:ext cx="17620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对话模型：qwen2.5:0.5b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362" y="1884045"/>
            <a:ext cx="22498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约 400MB · 通义千问轻量版 · 8GB 可跑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09625" y="2219325"/>
            <a:ext cx="3048000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94791" y="2325052"/>
            <a:ext cx="20811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向量模型：nomic-embed-text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5362" y="2531745"/>
            <a:ext cx="22732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约 274MB · 768维向量 · 文档 Embedding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9625" y="2867025"/>
            <a:ext cx="30480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DE9F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95172" y="2990374"/>
            <a:ext cx="17500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API 端口：localhost:11434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5362" y="3217545"/>
            <a:ext cx="11713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Ollama 后台自动运行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5362" y="3408045"/>
            <a:ext cx="17441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教师课前下载好，U盘拷贝学生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1095375"/>
            <a:ext cx="3524250" cy="2667000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 w="9525">
            <a:solidFill>
              <a:srgbClr val="A7F3D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565142" y="1235392"/>
            <a:ext cx="1130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📦 内存向量库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6666" y="1648778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设计方案：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67047" y="1914049"/>
            <a:ext cx="19572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JDK HashMap&lt;String, float[]&gt;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67047" y="2133124"/>
            <a:ext cx="10402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+ 余弦相似度算法</a:t>
            </a:r>
          </a:p>
        </p:txBody>
      </p:sp>
      <p:sp>
        <p:nvSpPr>
          <p:cNvPr id="23" name="Line 23"/>
          <p:cNvSpPr/>
          <p:nvPr/>
        </p:nvSpPr>
        <p:spPr>
          <a:xfrm>
            <a:off x="4572000" y="2428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D1FAE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567047" y="2542699"/>
            <a:ext cx="4233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优势：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7047" y="2771299"/>
            <a:ext cx="17919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✅ 零外部依赖，不需要 Docker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67047" y="2990374"/>
            <a:ext cx="12576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✅ 不需要 RedisStack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67047" y="3209449"/>
            <a:ext cx="20000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✅ 8GB 内存，几百条文档 &lt; 50MB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67047" y="3428524"/>
            <a:ext cx="21624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⚠️ 重启数据丢失（服务启动时重建）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96250" y="1095375"/>
            <a:ext cx="3524250" cy="26670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27517" y="1235392"/>
            <a:ext cx="13847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⚡ SSE 流式推送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29041" y="1648778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技术实现：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29422" y="1914049"/>
            <a:ext cx="9606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Spring WebFlux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29422" y="2133124"/>
            <a:ext cx="13904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Flux&lt;String&gt; 响应式流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29422" y="2352199"/>
            <a:ext cx="15652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text/event-stream 格式</a:t>
            </a:r>
          </a:p>
        </p:txBody>
      </p:sp>
      <p:sp>
        <p:nvSpPr>
          <p:cNvPr id="35" name="Line 35"/>
          <p:cNvSpPr/>
          <p:nvPr/>
        </p:nvSpPr>
        <p:spPr>
          <a:xfrm>
            <a:off x="8334375" y="26479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DBEAFE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329422" y="2761774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前端接收：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29422" y="2990374"/>
            <a:ext cx="17758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Fetch API + ReadableStream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29422" y="3209449"/>
            <a:ext cx="18260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逐 Token 解析 "data: ..." 行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29422" y="3428524"/>
            <a:ext cx="12788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AI 消息气泡逐字渲染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000500"/>
            <a:ext cx="11049000" cy="257175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02767" y="4140518"/>
            <a:ext cx="3719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架构对比：独立 Spring Boot 3.4.5 技术栈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09625" y="4476750"/>
            <a:ext cx="51435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94791" y="4601528"/>
            <a:ext cx="18065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业务微服务 (emp / admin)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5362" y="4855845"/>
            <a:ext cx="18990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父POM: oa-microservices 1.0.0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5362" y="5046345"/>
            <a:ext cx="14557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Spring Boot 2.x + JDK 8+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5362" y="5236845"/>
            <a:ext cx="16867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MyBatis · ES · Redis · Nacos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238875" y="4476750"/>
            <a:ext cx="5143500" cy="1047750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 w="14288">
            <a:solidFill>
              <a:srgbClr val="7C3AED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424041" y="4601528"/>
            <a:ext cx="16207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AI 微服务 (ai) ★ 独立栈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424612" y="4855845"/>
            <a:ext cx="25704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父POM: spring-boot-starter-parent 3.4.5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424612" y="5046345"/>
            <a:ext cx="1594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Spring Boot 3.4.5 + JDK 21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424612" y="5236845"/>
            <a:ext cx="20154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Spring AI 1.0 · WebFlux · 内存向量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003897" y="5800249"/>
            <a:ext cx="2184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通过 Gateway HTTP 互通，互不影响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178466" y="6038374"/>
            <a:ext cx="38350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Spring AI 1.0 强依赖 Boot 3.x + JDK 17+，独立 POM 是最优解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47738" y="6379845"/>
            <a:ext cx="4972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配置：ai.assistant.vector-mode: memory → 无需 RedisStack | 生产切换只需改为 redis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365759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10天实训开发计划 — 甘特图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35585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基础设施由教师提前准备，学生10天聚焦业务代码与联调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6844" y="1037749"/>
            <a:ext cx="9126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环境验证+架构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444" y="1371124"/>
            <a:ext cx="11530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员工CRUD+ES搜索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6188" y="1704499"/>
            <a:ext cx="803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Vue员工页面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467" y="2037874"/>
            <a:ext cx="9709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RBAC+JWT登录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3316" y="2371249"/>
            <a:ext cx="8161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★ 自定义请假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772" y="2704624"/>
            <a:ext cx="955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Redis+公告+ES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6188" y="3037999"/>
            <a:ext cx="803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Vue核心页面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4043" y="3371374"/>
            <a:ext cx="10554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Ollama对话+SSE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2939" y="3704749"/>
            <a:ext cx="10365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RAG知识库+AI页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4661" y="4038124"/>
            <a:ext cx="7747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全页面+联调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958" y="4371499"/>
            <a:ext cx="8804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测试+Bug修复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8278" y="4704874"/>
            <a:ext cx="561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答辩演示</a:t>
            </a:r>
          </a:p>
        </p:txBody>
      </p:sp>
      <p:sp>
        <p:nvSpPr>
          <p:cNvPr id="18" name="Line 18"/>
          <p:cNvSpPr/>
          <p:nvPr/>
        </p:nvSpPr>
        <p:spPr>
          <a:xfrm>
            <a:off x="1809750" y="1028700"/>
            <a:ext cx="9525" cy="3924300"/>
          </a:xfrm>
          <a:custGeom>
            <a:avLst/>
            <a:gdLst/>
            <a:ahLst/>
            <a:cxnLst/>
            <a:rect l="l" t="t" r="r" b="b"/>
            <a:pathLst>
              <a:path w="9525" h="3924300">
                <a:moveTo>
                  <a:pt x="0" y="0"/>
                </a:moveTo>
                <a:lnTo>
                  <a:pt x="0" y="392430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5024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549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074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599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124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649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174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699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22446" y="939641"/>
            <a:ext cx="1386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42675" y="939641"/>
            <a:ext cx="20314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D10</a:t>
            </a:r>
          </a:p>
        </p:txBody>
      </p:sp>
      <p:sp>
        <p:nvSpPr>
          <p:cNvPr id="29" name="Line 29"/>
          <p:cNvSpPr/>
          <p:nvPr/>
        </p:nvSpPr>
        <p:spPr>
          <a:xfrm>
            <a:off x="20955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30" name="Line 30"/>
          <p:cNvSpPr/>
          <p:nvPr/>
        </p:nvSpPr>
        <p:spPr>
          <a:xfrm>
            <a:off x="30480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31" name="Line 31"/>
          <p:cNvSpPr/>
          <p:nvPr/>
        </p:nvSpPr>
        <p:spPr>
          <a:xfrm>
            <a:off x="40005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32" name="Line 32"/>
          <p:cNvSpPr/>
          <p:nvPr/>
        </p:nvSpPr>
        <p:spPr>
          <a:xfrm>
            <a:off x="49530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33" name="Line 33"/>
          <p:cNvSpPr/>
          <p:nvPr/>
        </p:nvSpPr>
        <p:spPr>
          <a:xfrm>
            <a:off x="59055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34" name="Line 34"/>
          <p:cNvSpPr/>
          <p:nvPr/>
        </p:nvSpPr>
        <p:spPr>
          <a:xfrm>
            <a:off x="68580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35" name="Line 35"/>
          <p:cNvSpPr/>
          <p:nvPr/>
        </p:nvSpPr>
        <p:spPr>
          <a:xfrm>
            <a:off x="78105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36" name="Line 36"/>
          <p:cNvSpPr/>
          <p:nvPr/>
        </p:nvSpPr>
        <p:spPr>
          <a:xfrm>
            <a:off x="87630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37" name="Line 37"/>
          <p:cNvSpPr/>
          <p:nvPr/>
        </p:nvSpPr>
        <p:spPr>
          <a:xfrm>
            <a:off x="97155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38" name="Line 38"/>
          <p:cNvSpPr/>
          <p:nvPr/>
        </p:nvSpPr>
        <p:spPr>
          <a:xfrm>
            <a:off x="106680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39" name="Line 39"/>
          <p:cNvSpPr/>
          <p:nvPr/>
        </p:nvSpPr>
        <p:spPr>
          <a:xfrm>
            <a:off x="11620500" y="904875"/>
            <a:ext cx="9525" cy="4048125"/>
          </a:xfrm>
          <a:custGeom>
            <a:avLst/>
            <a:gdLst/>
            <a:ahLst/>
            <a:cxnLst/>
            <a:rect l="l" t="t" r="r" b="b"/>
            <a:pathLst>
              <a:path w="9525" h="4048125">
                <a:moveTo>
                  <a:pt x="0" y="0"/>
                </a:moveTo>
                <a:lnTo>
                  <a:pt x="0" y="4048125"/>
                </a:lnTo>
              </a:path>
            </a:pathLst>
          </a:custGeom>
          <a:noFill/>
          <a:ln w="4762">
            <a:solidFill>
              <a:srgbClr val="F1F5F9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2095500" y="1066800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2563EB">
              <a:alpha val="70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048000" y="1400175"/>
            <a:ext cx="1905000" cy="190500"/>
          </a:xfrm>
          <a:prstGeom prst="roundRect">
            <a:avLst>
              <a:gd name="adj" fmla="val 20000"/>
            </a:avLst>
          </a:prstGeom>
          <a:solidFill>
            <a:srgbClr val="2563EB">
              <a:alpha val="70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000500" y="1733550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10B981">
              <a:alpha val="60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4953000" y="2066925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F59E0B">
              <a:alpha val="7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4953000" y="2400300"/>
            <a:ext cx="1905000" cy="190500"/>
          </a:xfrm>
          <a:prstGeom prst="roundRect">
            <a:avLst>
              <a:gd name="adj" fmla="val 20000"/>
            </a:avLst>
          </a:prstGeom>
          <a:solidFill>
            <a:srgbClr val="F59E0B">
              <a:alpha val="70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5905500" y="2733675"/>
            <a:ext cx="1905000" cy="190500"/>
          </a:xfrm>
          <a:prstGeom prst="roundRect">
            <a:avLst>
              <a:gd name="adj" fmla="val 20000"/>
            </a:avLst>
          </a:prstGeom>
          <a:solidFill>
            <a:srgbClr val="2563EB">
              <a:alpha val="70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5905500" y="3067050"/>
            <a:ext cx="1905000" cy="190500"/>
          </a:xfrm>
          <a:prstGeom prst="roundRect">
            <a:avLst>
              <a:gd name="adj" fmla="val 20000"/>
            </a:avLst>
          </a:prstGeom>
          <a:solidFill>
            <a:srgbClr val="10B981">
              <a:alpha val="60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6858000" y="3400425"/>
            <a:ext cx="1905000" cy="190500"/>
          </a:xfrm>
          <a:prstGeom prst="roundRect">
            <a:avLst>
              <a:gd name="adj" fmla="val 20000"/>
            </a:avLst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7810500" y="3733800"/>
            <a:ext cx="1905000" cy="190500"/>
          </a:xfrm>
          <a:prstGeom prst="roundRect">
            <a:avLst>
              <a:gd name="adj" fmla="val 20000"/>
            </a:avLst>
          </a:prstGeom>
          <a:solidFill>
            <a:srgbClr val="7C3AED">
              <a:alpha val="60000"/>
            </a:srgbClr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8763000" y="4067175"/>
            <a:ext cx="1905000" cy="190500"/>
          </a:xfrm>
          <a:prstGeom prst="roundRect">
            <a:avLst>
              <a:gd name="adj" fmla="val 20000"/>
            </a:avLst>
          </a:prstGeom>
          <a:solidFill>
            <a:srgbClr val="10B981">
              <a:alpha val="50000"/>
            </a:srgbClr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9715500" y="4400550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94A3B8">
              <a:alpha val="60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10668000" y="4733925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EF4444">
              <a:alpha val="70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1631740" y="1120616"/>
            <a:ext cx="2316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认知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54625" y="1453991"/>
            <a:ext cx="3087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业务A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792779" y="1787366"/>
            <a:ext cx="70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│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554625" y="2120741"/>
            <a:ext cx="3087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业务B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792779" y="2454116"/>
            <a:ext cx="70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792779" y="2787491"/>
            <a:ext cx="70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792779" y="3120866"/>
            <a:ext cx="70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754117" y="3454241"/>
            <a:ext cx="1092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AI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792779" y="3787616"/>
            <a:ext cx="706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631740" y="4120991"/>
            <a:ext cx="2316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联调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631740" y="4454366"/>
            <a:ext cx="2316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测试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631740" y="4787741"/>
            <a:ext cx="2316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5286375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2563EB">
              <a:alpha val="70000"/>
            </a:srgbClr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04862" y="53130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后端开发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619250" y="5286375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10B981">
              <a:alpha val="60000"/>
            </a:srgbClr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1852612" y="53130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68" name="Rectangle 68"/>
          <p:cNvSpPr/>
          <p:nvPr/>
        </p:nvSpPr>
        <p:spPr>
          <a:xfrm>
            <a:off x="2667000" y="5286375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7C3AED">
              <a:alpha val="70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2900362" y="5313045"/>
            <a:ext cx="3743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AI模块</a:t>
            </a:r>
          </a:p>
        </p:txBody>
      </p:sp>
      <p:sp>
        <p:nvSpPr>
          <p:cNvPr id="70" name="Rectangle 70"/>
          <p:cNvSpPr/>
          <p:nvPr/>
        </p:nvSpPr>
        <p:spPr>
          <a:xfrm>
            <a:off x="3524250" y="5286375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F59E0B">
              <a:alpha val="70000"/>
            </a:srgbClr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757612" y="53130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权限审批</a:t>
            </a:r>
          </a:p>
        </p:txBody>
      </p:sp>
      <p:sp>
        <p:nvSpPr>
          <p:cNvPr id="72" name="Rectangle 72"/>
          <p:cNvSpPr/>
          <p:nvPr/>
        </p:nvSpPr>
        <p:spPr>
          <a:xfrm>
            <a:off x="4572000" y="5286375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EF4444">
              <a:alpha val="70000"/>
            </a:srgb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4805362" y="53130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演示交付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619750" y="5286375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94A3B8">
              <a:alpha val="60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5853112" y="5313045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测试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5667375"/>
            <a:ext cx="11049000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804291" y="5792152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每日产出摘要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00112" y="6075045"/>
            <a:ext cx="75863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D1: 全环境就绪+架构理解 | D2: 员工CRUD+ES搜索API | D3: Vue员工列表页 | D4: JWT登录+自定义请假 | D5: Redis缓存+公告ES+工作台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00112" y="6265545"/>
            <a:ext cx="697732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D6: Ollama对话+SSE流式 | D7: RAG全链路+AI对话页 | D8: 全页面补全+全链路联调 | D9: 集成测试+PPT准备 | D10: 答辩演示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00112" y="6475095"/>
            <a:ext cx="59969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教师课前准备：4个微服务骨架+建表SQL+Nacos配置+Vue脚手架+Ollama模型预下载 → 学生10天只写业务代码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166878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5人团队分工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39402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1项目经理 + 1后端 + 2前端 + 1测试 — 教师骨架降低单人工作量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2190750" cy="20955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428750" y="1238250"/>
            <a:ext cx="476250" cy="476250"/>
          </a:xfrm>
          <a:prstGeom prst="ellipse">
            <a:avLst/>
          </a:prstGeom>
          <a:solidFill>
            <a:srgbClr val="2563EB">
              <a:alpha val="1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03724" y="138112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1537" y="17564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项目经理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8215" y="1979295"/>
            <a:ext cx="1973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1人</a:t>
            </a:r>
          </a:p>
        </p:txBody>
      </p:sp>
      <p:sp>
        <p:nvSpPr>
          <p:cNvPr id="11" name="Line 11"/>
          <p:cNvSpPr/>
          <p:nvPr/>
        </p:nvSpPr>
        <p:spPr>
          <a:xfrm>
            <a:off x="809625" y="22383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57238" y="2360295"/>
            <a:ext cx="5971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架构走读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50795"/>
            <a:ext cx="80962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API文档编写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41295"/>
            <a:ext cx="9407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Nacos配置管理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931795"/>
            <a:ext cx="9120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答辩PPT+演示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952750" y="1095375"/>
            <a:ext cx="2190750" cy="209550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4288">
            <a:solidFill>
              <a:srgbClr val="93C5FD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3810000" y="1238250"/>
            <a:ext cx="476250" cy="476250"/>
          </a:xfrm>
          <a:prstGeom prst="ellipse">
            <a:avLst/>
          </a:prstGeom>
          <a:solidFill>
            <a:srgbClr val="2563EB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929443" y="1381125"/>
            <a:ext cx="2373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⚙️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02787" y="17564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后端开发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55657" y="1979295"/>
            <a:ext cx="7849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1人 扛3个服务</a:t>
            </a:r>
          </a:p>
        </p:txBody>
      </p:sp>
      <p:sp>
        <p:nvSpPr>
          <p:cNvPr id="21" name="Line 21"/>
          <p:cNvSpPr/>
          <p:nvPr/>
        </p:nvSpPr>
        <p:spPr>
          <a:xfrm>
            <a:off x="3190875" y="22383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DBEAF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138488" y="2360295"/>
            <a:ext cx="8672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员工CRUD+ES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38488" y="2550795"/>
            <a:ext cx="10528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RBAC+审批+公告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38488" y="2741295"/>
            <a:ext cx="7858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· Ollama+RAG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38488" y="2939891"/>
            <a:ext cx="117567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约750行/10天=75行/天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334000" y="1095375"/>
            <a:ext cx="2190750" cy="209550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 w="14288">
            <a:solidFill>
              <a:srgbClr val="A7F3D0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6191250" y="1238250"/>
            <a:ext cx="476250" cy="476250"/>
          </a:xfrm>
          <a:prstGeom prst="ellipse">
            <a:avLst/>
          </a:prstGeom>
          <a:solidFill>
            <a:srgbClr val="10B981">
              <a:alpha val="1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366224" y="138112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88665" y="1756410"/>
            <a:ext cx="8814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前端开发 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70225" y="1979295"/>
            <a:ext cx="71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1人 页面主力</a:t>
            </a:r>
          </a:p>
        </p:txBody>
      </p:sp>
      <p:sp>
        <p:nvSpPr>
          <p:cNvPr id="31" name="Line 31"/>
          <p:cNvSpPr/>
          <p:nvPr/>
        </p:nvSpPr>
        <p:spPr>
          <a:xfrm>
            <a:off x="5572125" y="22383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D1FAE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519738" y="2360295"/>
            <a:ext cx="10989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Element Plus组件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19738" y="2550795"/>
            <a:ext cx="10938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登录+工作台+员工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19738" y="2741295"/>
            <a:ext cx="9060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审批+公告页面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19738" y="2931795"/>
            <a:ext cx="6112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AI对话页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715250" y="1095375"/>
            <a:ext cx="2190750" cy="209550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 w="14288">
            <a:solidFill>
              <a:srgbClr val="A7F3D0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8572500" y="1238250"/>
            <a:ext cx="476250" cy="476250"/>
          </a:xfrm>
          <a:prstGeom prst="ellipse">
            <a:avLst/>
          </a:prstGeom>
          <a:solidFill>
            <a:srgbClr val="10B981">
              <a:alpha val="15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691944" y="1381125"/>
            <a:ext cx="2373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🖌️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69915" y="1756410"/>
            <a:ext cx="8814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前端开发 B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8157" y="1979295"/>
            <a:ext cx="7849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1人 工程+样式</a:t>
            </a:r>
          </a:p>
        </p:txBody>
      </p:sp>
      <p:sp>
        <p:nvSpPr>
          <p:cNvPr id="41" name="Line 41"/>
          <p:cNvSpPr/>
          <p:nvPr/>
        </p:nvSpPr>
        <p:spPr>
          <a:xfrm>
            <a:off x="7953375" y="22383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D1FAE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900988" y="2360295"/>
            <a:ext cx="94687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路由守卫+Pinia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00988" y="2550795"/>
            <a:ext cx="11000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Axios封装+拦截器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00988" y="2741295"/>
            <a:ext cx="8416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SSE流式接收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00988" y="2931795"/>
            <a:ext cx="9060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样式走查+动效</a:t>
            </a:r>
          </a:p>
        </p:txBody>
      </p:sp>
      <p:sp>
        <p:nvSpPr>
          <p:cNvPr id="46" name="Rectangle 46"/>
          <p:cNvSpPr/>
          <p:nvPr/>
        </p:nvSpPr>
        <p:spPr>
          <a:xfrm>
            <a:off x="10096500" y="1095375"/>
            <a:ext cx="1524000" cy="20955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4288">
            <a:solidFill>
              <a:srgbClr val="FED7AA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10620375" y="1238250"/>
            <a:ext cx="476250" cy="476250"/>
          </a:xfrm>
          <a:prstGeom prst="ellipse">
            <a:avLst/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795349" y="138112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🧪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682783" y="175641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测试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9840" y="1979295"/>
            <a:ext cx="1973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1人</a:t>
            </a:r>
          </a:p>
        </p:txBody>
      </p:sp>
      <p:sp>
        <p:nvSpPr>
          <p:cNvPr id="51" name="Line 51"/>
          <p:cNvSpPr/>
          <p:nvPr/>
        </p:nvSpPr>
        <p:spPr>
          <a:xfrm>
            <a:off x="10287000" y="2238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4762">
            <a:solidFill>
              <a:srgbClr val="FED7A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0234612" y="2360295"/>
            <a:ext cx="8394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测试用例编写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234612" y="2550795"/>
            <a:ext cx="8394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每日回归测试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34612" y="2741295"/>
            <a:ext cx="8522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Postman接口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34612" y="2931795"/>
            <a:ext cx="5650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Bug跟踪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3429000"/>
            <a:ext cx="11049000" cy="16192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802767" y="3569018"/>
            <a:ext cx="36298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单人后端如何扛3个服务？—— 教师骨架策略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09625" y="3952875"/>
            <a:ext cx="2476500" cy="904875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273859" y="4096702"/>
            <a:ext cx="15480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4ED8"/>
                </a:solidFill>
                <a:latin typeface="Segoe UI"/>
                <a:ea typeface="Microsoft YaHei"/>
                <a:cs typeface="Segoe UI"/>
              </a:rPr>
              <a:t>Controller 路由已定义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20210" y="4331970"/>
            <a:ext cx="12553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只写 Service 业务逻辑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97902" y="452247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不写路由和参数校验</a:t>
            </a:r>
          </a:p>
        </p:txBody>
      </p:sp>
      <p:sp>
        <p:nvSpPr>
          <p:cNvPr id="62" name="Rectangle 62"/>
          <p:cNvSpPr/>
          <p:nvPr/>
        </p:nvSpPr>
        <p:spPr>
          <a:xfrm>
            <a:off x="3476625" y="3952875"/>
            <a:ext cx="2476500" cy="904875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4050339" y="4096702"/>
            <a:ext cx="13290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59669"/>
                </a:solidFill>
                <a:latin typeface="Segoe UI"/>
                <a:ea typeface="Microsoft YaHei"/>
                <a:cs typeface="Segoe UI"/>
              </a:rPr>
              <a:t>Mapper 接口已声明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159644" y="4331970"/>
            <a:ext cx="11104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只写 SQL 映射 XML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346638" y="45224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不写接口定义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143625" y="3952875"/>
            <a:ext cx="2476500" cy="904875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697344" y="4096702"/>
            <a:ext cx="13690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Nacos 配置模板就绪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892480" y="4331970"/>
            <a:ext cx="9787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只改本地连接信息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074218" y="4522470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不写配置项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810625" y="3952875"/>
            <a:ext cx="2571750" cy="904875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9550138" y="4096702"/>
            <a:ext cx="10927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A580C"/>
                </a:solidFill>
                <a:latin typeface="Segoe UI"/>
                <a:ea typeface="Microsoft YaHei"/>
                <a:cs typeface="Segoe UI"/>
              </a:rPr>
              <a:t>TODO 标记引导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607106" y="4331970"/>
            <a:ext cx="9787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按提示填空式开发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788842" y="4522470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不迷失方向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71500" y="533400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2563EB">
              <a:alpha val="5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04291" y="5458778"/>
            <a:ext cx="7164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测试从D1开始写用例（不最后集中爆雷） | 约750行业务代码 ÷ 10天 ≈ 每天75行 | PM协助联调+文档，不旁观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04862" y="5646420"/>
            <a:ext cx="360791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策略：教师骨架承担60%基础工作，学生聚焦40%核心业务逻辑编码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297180"/>
            <a:ext cx="26928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成功标准与验收清单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166" y="629602"/>
            <a:ext cx="15019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9项核心指标，逐项验收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47750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9525">
            <a:solidFill>
              <a:srgbClr val="D1FAE5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97255" y="11715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✅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4910" y="1212056"/>
            <a:ext cx="12967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员工 CRUD + 分页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5862" y="1445895"/>
            <a:ext cx="215991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增删改查全流程，PageHelper 物理分页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33875" y="1047750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9525">
            <a:solidFill>
              <a:srgbClr val="D1FAE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659630" y="11715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47285" y="1212056"/>
            <a:ext cx="12547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ES 全文检索员工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48238" y="1445895"/>
            <a:ext cx="18511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"技术"→技术部所有人，高亮+分页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96250" y="1047750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9525">
            <a:solidFill>
              <a:srgbClr val="D1FAE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422005" y="117157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09660" y="1212056"/>
            <a:ext cx="14060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JWT 登录 + 三角色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10612" y="1445895"/>
            <a:ext cx="17178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管理员/经理/员工三种菜单不同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857375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97255" y="19812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4910" y="2021681"/>
            <a:ext cx="11245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自定义请假流程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5862" y="2255520"/>
            <a:ext cx="19722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97706"/>
                </a:solidFill>
                <a:latin typeface="Segoe UI"/>
                <a:ea typeface="Microsoft YaHei"/>
                <a:cs typeface="Segoe UI"/>
              </a:rPr>
              <a:t>自由文本输入→提交→审批→通过/驳回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33875" y="1857375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9525">
            <a:solidFill>
              <a:srgbClr val="D1FAE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659630" y="19812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47285" y="2021681"/>
            <a:ext cx="965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驳回必填理由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48238" y="2255520"/>
            <a:ext cx="1584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驳回弹窗强制填写，沟通闭环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857375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9525">
            <a:solidFill>
              <a:srgbClr val="D1FAE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422005" y="19812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09660" y="2021681"/>
            <a:ext cx="9691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公告 ES 搜索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10612" y="2255520"/>
            <a:ext cx="16993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发布公告→ES同步→关键词找到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2667000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97255" y="279082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4910" y="2831306"/>
            <a:ext cx="12043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AI RAG 智能问答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85862" y="3065145"/>
            <a:ext cx="20692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从知识库检索制度文档后回答，有来源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33875" y="2667000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4659630" y="279082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47285" y="2831306"/>
            <a:ext cx="10111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7C3AED"/>
                </a:solidFill>
                <a:latin typeface="Segoe UI"/>
                <a:ea typeface="Microsoft YaHei"/>
                <a:cs typeface="Segoe UI"/>
              </a:rPr>
              <a:t>SSE 流式输出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48238" y="3065145"/>
            <a:ext cx="16693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逐字打字效果，首字延迟 &lt; 3秒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96250" y="2667000"/>
            <a:ext cx="352425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9525">
            <a:solidFill>
              <a:srgbClr val="D1FAE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422005" y="2790825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09660" y="2831306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全流程走通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10612" y="3065145"/>
            <a:ext cx="18081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登录→查员工→请假→审批→AI问答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3619500"/>
            <a:ext cx="11049000" cy="123825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02767" y="3807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4155"/>
                </a:solidFill>
                <a:latin typeface="Segoe UI"/>
                <a:ea typeface="Microsoft YaHei"/>
                <a:cs typeface="Segoe UI"/>
              </a:rPr>
              <a:t>验收方式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3910" y="4164806"/>
            <a:ext cx="94526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全流程演示：登录 → 搜索员工 → 提交自定义请假("考证") → 经理驳回(填写理由) → 搜索公告 → 问AI"请假需要什么材料" → AI流式回复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4291" y="4506278"/>
            <a:ext cx="29567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演示时长：约 8-10 分钟 | 涵盖全部 9 项标准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095875"/>
            <a:ext cx="11049000" cy="85725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03529" y="5252085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97706"/>
                </a:solidFill>
                <a:latin typeface="Segoe UI"/>
                <a:ea typeface="Microsoft YaHei"/>
                <a:cs typeface="Segoe UI"/>
              </a:rPr>
              <a:t>非功能性指标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09625" y="5572125"/>
            <a:ext cx="2476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431265" y="5665470"/>
            <a:ext cx="12332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接口响应时间 &lt; 500ms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476625" y="5572125"/>
            <a:ext cx="2476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244912" y="5665470"/>
            <a:ext cx="9399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AI 首字延迟 &lt; 3s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143625" y="5572125"/>
            <a:ext cx="2476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785324" y="5665470"/>
            <a:ext cx="11931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ES 搜索响应 &lt; 300ms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810625" y="5572125"/>
            <a:ext cx="2571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582874" y="5665470"/>
            <a:ext cx="10272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8GB 内存可跑全套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910241" y="6276499"/>
            <a:ext cx="43715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★ 核心亮点：AI不是外挂，真正嵌入OA流程 — 问制度 → 查文档 → 给答案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476250" y="-476250"/>
            <a:ext cx="4762500" cy="4762500"/>
          </a:xfrm>
          <a:prstGeom prst="ellipse">
            <a:avLst/>
          </a:prstGeom>
          <a:solidFill>
            <a:srgbClr val="2563EB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2857500"/>
            <a:ext cx="3810000" cy="381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59985" y="1516380"/>
            <a:ext cx="207203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感谢聆听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2190750"/>
            <a:ext cx="3810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10B981"/>
              </a:gs>
            </a:gsLst>
            <a:lin ang="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495800" y="2505075"/>
            <a:ext cx="3200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SmartOA — 企业智慧办公管理系统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4882" y="3117056"/>
            <a:ext cx="42222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Vue.js 3 + SpringBoot + SpringSecurity + Nacos + MyBatis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19190" y="3383756"/>
            <a:ext cx="37536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Redis + Elasticsearch 7.13 + Spring AI 1.0 + Ollama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0" y="39052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704664" y="4156710"/>
            <a:ext cx="27826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武汉理工大学实训班 · 福建福州新大陆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51736" y="4458652"/>
            <a:ext cx="20885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5人团队 · 10天实训 · 2026年7月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619500" y="50482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50589" y="51635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A5FA"/>
                </a:solidFill>
                <a:latin typeface="Segoe UI"/>
                <a:ea typeface="Microsoft YaHei"/>
                <a:cs typeface="Segoe UI"/>
              </a:rPr>
              <a:t>全文检索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048250" y="50482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7C3AED">
              <a:alpha val="2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277460" y="5163502"/>
            <a:ext cx="7798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78BFA"/>
                </a:solidFill>
                <a:latin typeface="Segoe UI"/>
                <a:ea typeface="Microsoft YaHei"/>
                <a:cs typeface="Segoe UI"/>
              </a:rPr>
              <a:t>AI 智能客服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50482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737414" y="51635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4D399"/>
                </a:solidFill>
                <a:latin typeface="Segoe UI"/>
                <a:ea typeface="Microsoft YaHei"/>
                <a:cs typeface="Segoe UI"/>
              </a:rPr>
              <a:t>自定义审批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905750" y="50482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166164" y="51635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BBF24"/>
                </a:solidFill>
                <a:latin typeface="Segoe UI"/>
                <a:ea typeface="Microsoft YaHei"/>
                <a:cs typeface="Segoe UI"/>
              </a:rPr>
              <a:t>微服务架构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11825" y="5709285"/>
            <a:ext cx="9683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 &amp; 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07964" y="6268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欢迎提问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2026-07-15T09:02:49Z</dcterms:created>
  <dcterms:modified xsi:type="dcterms:W3CDTF">2026-07-15T09:02:49Z</dcterms:modified>
  <cp:category/>
  <cp:contentStatus/>
</cp:coreProperties>
</file>